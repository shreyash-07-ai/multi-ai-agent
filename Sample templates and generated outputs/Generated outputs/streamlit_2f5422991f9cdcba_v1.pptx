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914400" y="1170432"/>
            <a:ext cx="10360152" cy="320040"/>
          </a:xfrm>
          <a:prstGeom prst="rect">
            <a:avLst/>
          </a:prstGeom>
          <a:noFill/>
        </p:spPr>
        <p:txBody>
          <a:bodyPr wrap="square" lIns="0" rIns="0" tIns="0" bIns="0" anchor="ctr">
            <a:spAutoFit/>
          </a:bodyPr>
          <a:lstStyle/>
          <a:p>
            <a:pPr algn="ctr">
              <a:defRPr sz="1100" b="1">
                <a:solidFill>
                  <a:srgbClr val="58A6FF"/>
                </a:solidFill>
                <a:latin typeface="Aptos"/>
              </a:defRPr>
            </a:pPr>
            <a:r>
              <a:t>AI-GENERATED BUSINESS PROPOSAL</a:t>
            </a:r>
          </a:p>
        </p:txBody>
      </p:sp>
      <p:sp>
        <p:nvSpPr>
          <p:cNvPr id="3" name="TextBox 2"/>
          <p:cNvSpPr txBox="1"/>
          <p:nvPr/>
        </p:nvSpPr>
        <p:spPr>
          <a:xfrm>
            <a:off x="914400" y="1691640"/>
            <a:ext cx="10360152" cy="1143000"/>
          </a:xfrm>
          <a:prstGeom prst="rect">
            <a:avLst/>
          </a:prstGeom>
          <a:noFill/>
        </p:spPr>
        <p:txBody>
          <a:bodyPr wrap="square" lIns="0" rIns="0" tIns="0" bIns="0" anchor="ctr">
            <a:spAutoFit/>
          </a:bodyPr>
          <a:lstStyle/>
          <a:p>
            <a:pPr algn="ctr">
              <a:defRPr sz="2900" b="1">
                <a:solidFill>
                  <a:srgbClr val="F5F7FA"/>
                </a:solidFill>
                <a:latin typeface="Aptos"/>
              </a:defRPr>
            </a:pPr>
            <a:r>
              <a:t>Proposal: Leveraging Generative AI for Enhanced Enterprise Operations</a:t>
            </a:r>
          </a:p>
        </p:txBody>
      </p:sp>
      <p:sp>
        <p:nvSpPr>
          <p:cNvPr id="4" name="Rectangle 3"/>
          <p:cNvSpPr/>
          <p:nvPr/>
        </p:nvSpPr>
        <p:spPr>
          <a:xfrm>
            <a:off x="5349240" y="2944368"/>
            <a:ext cx="1490472" cy="5029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3273552"/>
            <a:ext cx="9720072" cy="530352"/>
          </a:xfrm>
          <a:prstGeom prst="rect">
            <a:avLst/>
          </a:prstGeom>
          <a:noFill/>
        </p:spPr>
        <p:txBody>
          <a:bodyPr wrap="square" lIns="0" rIns="0" tIns="0" bIns="0" anchor="ctr">
            <a:spAutoFit/>
          </a:bodyPr>
          <a:lstStyle/>
          <a:p>
            <a:pPr algn="ctr">
              <a:defRPr sz="1900" b="0">
                <a:solidFill>
                  <a:srgbClr val="F5F7FA"/>
                </a:solidFill>
                <a:latin typeface="Aptos"/>
              </a:defRPr>
            </a:pPr>
            <a:r>
              <a:t>Generative AI Trends &amp; Implementation Strategy</a:t>
            </a:r>
          </a:p>
        </p:txBody>
      </p:sp>
      <p:sp>
        <p:nvSpPr>
          <p:cNvPr id="6" name="TextBox 5"/>
          <p:cNvSpPr txBox="1"/>
          <p:nvPr/>
        </p:nvSpPr>
        <p:spPr>
          <a:xfrm>
            <a:off x="1234440" y="3913632"/>
            <a:ext cx="9720072" cy="411480"/>
          </a:xfrm>
          <a:prstGeom prst="rect">
            <a:avLst/>
          </a:prstGeom>
          <a:noFill/>
        </p:spPr>
        <p:txBody>
          <a:bodyPr wrap="square" lIns="0" rIns="0" tIns="0" bIns="0" anchor="ctr">
            <a:spAutoFit/>
          </a:bodyPr>
          <a:lstStyle/>
          <a:p>
            <a:pPr algn="ctr">
              <a:defRPr sz="1400" b="0">
                <a:solidFill>
                  <a:srgbClr val="AFB8C6"/>
                </a:solidFill>
                <a:latin typeface="Aptos"/>
              </a:defRPr>
            </a:pPr>
            <a:r>
              <a:t>Acme Corporation</a:t>
            </a:r>
          </a:p>
        </p:txBody>
      </p:sp>
      <p:sp>
        <p:nvSpPr>
          <p:cNvPr id="7" name="Rectangle 6"/>
          <p:cNvSpPr/>
          <p:nvPr/>
        </p:nvSpPr>
        <p:spPr>
          <a:xfrm>
            <a:off x="2011680" y="5806440"/>
            <a:ext cx="8165592" cy="16459"/>
          </a:xfrm>
          <a:prstGeom prst="rect">
            <a:avLst/>
          </a:prstGeom>
          <a:solidFill>
            <a:srgbClr val="3E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Executive Summary</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417320"/>
            <a:ext cx="10874959" cy="452628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783080"/>
            <a:ext cx="10104120" cy="3794760"/>
          </a:xfrm>
          <a:prstGeom prst="rect">
            <a:avLst/>
          </a:prstGeom>
          <a:noFill/>
        </p:spPr>
        <p:txBody>
          <a:bodyPr wrap="square" lIns="0" rIns="0" tIns="0" bIns="0" anchor="ctr">
            <a:spAutoFit/>
          </a:bodyPr>
          <a:lstStyle/>
          <a:p>
            <a:pPr algn="l">
              <a:defRPr sz="2000" b="0">
                <a:solidFill>
                  <a:srgbClr val="F5F7FA"/>
                </a:solidFill>
                <a:latin typeface="Aptos"/>
              </a:defRPr>
            </a:pPr>
            <a:r>
              <a:t>This proposal outlines the latest trends in Generative AI and presents a strategic framework for their integration into enterprise operations, with a specific focus on enhancing customer support capabilities and overall efficiency. By adopting advanced AI tools, we aim to reduce response times, improve service consistency, and empower our teams with intelligent assistance, while maintaining human oversight and adherence to established policies.</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Leveraging Generative AI for Enhanced Enterprise Operations</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Exploring the transformative power of Generative AI.</a:t>
            </a:r>
          </a:p>
          <a:p>
            <a:pPr algn="l">
              <a:lnSpc>
                <a:spcPct val="108000"/>
              </a:lnSpc>
              <a:spcAft>
                <a:spcPts val="900"/>
              </a:spcAft>
              <a:defRPr sz="1700">
                <a:solidFill>
                  <a:srgbClr val="F5F7FA"/>
                </a:solidFill>
                <a:latin typeface="Aptos"/>
              </a:defRPr>
            </a:pPr>
            <a:r>
              <a:t>• Strategic proposal for integrating cutting-edge AI technologies.</a:t>
            </a:r>
          </a:p>
          <a:p>
            <a:pPr algn="l">
              <a:lnSpc>
                <a:spcPct val="108000"/>
              </a:lnSpc>
              <a:spcAft>
                <a:spcPts val="900"/>
              </a:spcAft>
              <a:defRPr sz="1700">
                <a:solidFill>
                  <a:srgbClr val="F5F7FA"/>
                </a:solidFill>
                <a:latin typeface="Aptos"/>
              </a:defRPr>
            </a:pPr>
            <a:r>
              <a:t>• Focus on improving operational efficiency and customer experience.</a:t>
            </a:r>
          </a:p>
          <a:p>
            <a:pPr algn="l">
              <a:lnSpc>
                <a:spcPct val="108000"/>
              </a:lnSpc>
              <a:spcAft>
                <a:spcPts val="900"/>
              </a:spcAft>
              <a:defRPr sz="1700">
                <a:solidFill>
                  <a:srgbClr val="F5F7FA"/>
                </a:solidFill>
                <a:latin typeface="Aptos"/>
              </a:defRPr>
            </a:pPr>
            <a:r>
              <a:t>• Aligning AI adoption with enterprise policies and objectives.</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Understanding Generative AI: A New Era of Innovation</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Generative AI creates new content, data, and solutions from learned patterns.</a:t>
            </a:r>
          </a:p>
          <a:p>
            <a:pPr algn="l">
              <a:lnSpc>
                <a:spcPct val="108000"/>
              </a:lnSpc>
              <a:spcAft>
                <a:spcPts val="900"/>
              </a:spcAft>
              <a:defRPr sz="1700">
                <a:solidFill>
                  <a:srgbClr val="F5F7FA"/>
                </a:solidFill>
                <a:latin typeface="Aptos"/>
              </a:defRPr>
            </a:pPr>
            <a:r>
              <a:t>• Moves beyond analytical AI to produce novel outputs like text, images, and code.</a:t>
            </a:r>
          </a:p>
          <a:p>
            <a:pPr algn="l">
              <a:lnSpc>
                <a:spcPct val="108000"/>
              </a:lnSpc>
              <a:spcAft>
                <a:spcPts val="900"/>
              </a:spcAft>
              <a:defRPr sz="1700">
                <a:solidFill>
                  <a:srgbClr val="F5F7FA"/>
                </a:solidFill>
                <a:latin typeface="Aptos"/>
              </a:defRPr>
            </a:pPr>
            <a:r>
              <a:t>• Drives innovation across product development, marketing, and customer service.</a:t>
            </a:r>
          </a:p>
          <a:p>
            <a:pPr algn="l">
              <a:lnSpc>
                <a:spcPct val="108000"/>
              </a:lnSpc>
              <a:spcAft>
                <a:spcPts val="900"/>
              </a:spcAft>
              <a:defRPr sz="1700">
                <a:solidFill>
                  <a:srgbClr val="F5F7FA"/>
                </a:solidFill>
                <a:latin typeface="Aptos"/>
              </a:defRPr>
            </a:pPr>
            <a:r>
              <a:t>• Offers significant potential for automation and creative augmentation.</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Key Trend: Advancements in Large Language Models (LLMs)</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LLMs continue to grow in scale, sophistication, and contextual understanding.</a:t>
            </a:r>
          </a:p>
          <a:p>
            <a:pPr algn="l">
              <a:lnSpc>
                <a:spcPct val="108000"/>
              </a:lnSpc>
              <a:spcAft>
                <a:spcPts val="900"/>
              </a:spcAft>
              <a:defRPr sz="1700">
                <a:solidFill>
                  <a:srgbClr val="F5F7FA"/>
                </a:solidFill>
                <a:latin typeface="Aptos"/>
              </a:defRPr>
            </a:pPr>
            <a:r>
              <a:t>• Improved capabilities in natural language processing, generation, and summarization.</a:t>
            </a:r>
          </a:p>
          <a:p>
            <a:pPr algn="l">
              <a:lnSpc>
                <a:spcPct val="108000"/>
              </a:lnSpc>
              <a:spcAft>
                <a:spcPts val="900"/>
              </a:spcAft>
              <a:defRPr sz="1700">
                <a:solidFill>
                  <a:srgbClr val="F5F7FA"/>
                </a:solidFill>
                <a:latin typeface="Aptos"/>
              </a:defRPr>
            </a:pPr>
            <a:r>
              <a:t>• Enabling more human-like interactions and complex task automation.</a:t>
            </a:r>
          </a:p>
          <a:p>
            <a:pPr algn="l">
              <a:lnSpc>
                <a:spcPct val="108000"/>
              </a:lnSpc>
              <a:spcAft>
                <a:spcPts val="900"/>
              </a:spcAft>
              <a:defRPr sz="1700">
                <a:solidFill>
                  <a:srgbClr val="F5F7FA"/>
                </a:solidFill>
                <a:latin typeface="Aptos"/>
              </a:defRPr>
            </a:pPr>
            <a:r>
              <a:t>• Applications range from intelligent assistants to advanced content creation.</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Key Trend: The Rise of Multimodal AI</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Integration of multiple data types: text, images, audio, video.</a:t>
            </a:r>
          </a:p>
          <a:p>
            <a:pPr algn="l">
              <a:lnSpc>
                <a:spcPct val="108000"/>
              </a:lnSpc>
              <a:spcAft>
                <a:spcPts val="900"/>
              </a:spcAft>
              <a:defRPr sz="1700">
                <a:solidFill>
                  <a:srgbClr val="F5F7FA"/>
                </a:solidFill>
                <a:latin typeface="Aptos"/>
              </a:defRPr>
            </a:pPr>
            <a:r>
              <a:t>• AI systems can now understand and generate across different modalities.</a:t>
            </a:r>
          </a:p>
          <a:p>
            <a:pPr algn="l">
              <a:lnSpc>
                <a:spcPct val="108000"/>
              </a:lnSpc>
              <a:spcAft>
                <a:spcPts val="900"/>
              </a:spcAft>
              <a:defRPr sz="1700">
                <a:solidFill>
                  <a:srgbClr val="F5F7FA"/>
                </a:solidFill>
                <a:latin typeface="Aptos"/>
              </a:defRPr>
            </a:pPr>
            <a:r>
              <a:t>• Enables richer interactions and more comprehensive content creation.</a:t>
            </a:r>
          </a:p>
          <a:p>
            <a:pPr algn="l">
              <a:lnSpc>
                <a:spcPct val="108000"/>
              </a:lnSpc>
              <a:spcAft>
                <a:spcPts val="900"/>
              </a:spcAft>
              <a:defRPr sz="1700">
                <a:solidFill>
                  <a:srgbClr val="F5F7FA"/>
                </a:solidFill>
                <a:latin typeface="Aptos"/>
              </a:defRPr>
            </a:pPr>
            <a:r>
              <a:t>• Examples include generating video from text or describing images verbally.</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Key Trend: Ethical AI and Responsible Deployment</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Growing emphasis on fairness, transparency, and accountability in AI systems.</a:t>
            </a:r>
          </a:p>
          <a:p>
            <a:pPr algn="l">
              <a:lnSpc>
                <a:spcPct val="108000"/>
              </a:lnSpc>
              <a:spcAft>
                <a:spcPts val="900"/>
              </a:spcAft>
              <a:defRPr sz="1700">
                <a:solidFill>
                  <a:srgbClr val="F5F7FA"/>
                </a:solidFill>
                <a:latin typeface="Aptos"/>
              </a:defRPr>
            </a:pPr>
            <a:r>
              <a:t>• Development of robust governance frameworks and ethical guidelines.</a:t>
            </a:r>
          </a:p>
          <a:p>
            <a:pPr algn="l">
              <a:lnSpc>
                <a:spcPct val="108000"/>
              </a:lnSpc>
              <a:spcAft>
                <a:spcPts val="900"/>
              </a:spcAft>
              <a:defRPr sz="1700">
                <a:solidFill>
                  <a:srgbClr val="F5F7FA"/>
                </a:solidFill>
                <a:latin typeface="Aptos"/>
              </a:defRPr>
            </a:pPr>
            <a:r>
              <a:t>• Ensuring data privacy, security, and mitigating bias in AI outputs.</a:t>
            </a:r>
          </a:p>
          <a:p>
            <a:pPr algn="l">
              <a:lnSpc>
                <a:spcPct val="108000"/>
              </a:lnSpc>
              <a:spcAft>
                <a:spcPts val="900"/>
              </a:spcAft>
              <a:defRPr sz="1700">
                <a:solidFill>
                  <a:srgbClr val="F5F7FA"/>
                </a:solidFill>
                <a:latin typeface="Aptos"/>
              </a:defRPr>
            </a:pPr>
            <a:r>
              <a:t>• Human oversight remains crucial for critical decision-making and verification.</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Generative AI in Customer Support: General Benefits</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Automating routine inquiries and providing instant responses.</a:t>
            </a:r>
          </a:p>
          <a:p>
            <a:pPr algn="l">
              <a:lnSpc>
                <a:spcPct val="108000"/>
              </a:lnSpc>
              <a:spcAft>
                <a:spcPts val="900"/>
              </a:spcAft>
              <a:defRPr sz="1700">
                <a:solidFill>
                  <a:srgbClr val="F5F7FA"/>
                </a:solidFill>
                <a:latin typeface="Aptos"/>
              </a:defRPr>
            </a:pPr>
            <a:r>
              <a:t>• Enhancing agent efficiency by quickly surfacing relevant knowledge.</a:t>
            </a:r>
          </a:p>
          <a:p>
            <a:pPr algn="l">
              <a:lnSpc>
                <a:spcPct val="108000"/>
              </a:lnSpc>
              <a:spcAft>
                <a:spcPts val="900"/>
              </a:spcAft>
              <a:defRPr sz="1700">
                <a:solidFill>
                  <a:srgbClr val="F5F7FA"/>
                </a:solidFill>
                <a:latin typeface="Aptos"/>
              </a:defRPr>
            </a:pPr>
            <a:r>
              <a:t>• Improving consistency in customer interactions and information delivery.</a:t>
            </a:r>
          </a:p>
          <a:p>
            <a:pPr algn="l">
              <a:lnSpc>
                <a:spcPct val="108000"/>
              </a:lnSpc>
              <a:spcAft>
                <a:spcPts val="900"/>
              </a:spcAft>
              <a:defRPr sz="1700">
                <a:solidFill>
                  <a:srgbClr val="F5F7FA"/>
                </a:solidFill>
                <a:latin typeface="Aptos"/>
              </a:defRPr>
            </a:pPr>
            <a:r>
              <a:t>• Personalizing support experiences based on customer history and context.</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Enterprise AI-Assisted Customer Support Policy: Purpose (1/2)</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Defines how AI-assisted tools support customer service teams.</a:t>
            </a:r>
          </a:p>
          <a:p>
            <a:pPr algn="l">
              <a:lnSpc>
                <a:spcPct val="108000"/>
              </a:lnSpc>
              <a:spcAft>
                <a:spcPts val="900"/>
              </a:spcAft>
              <a:defRPr sz="1700">
                <a:solidFill>
                  <a:srgbClr val="F5F7FA"/>
                </a:solidFill>
                <a:latin typeface="Aptos"/>
              </a:defRPr>
            </a:pPr>
            <a:r>
              <a:t>• Objective to reduce response time and improve ticket consistency.</a:t>
            </a:r>
          </a:p>
          <a:p>
            <a:pPr algn="l">
              <a:lnSpc>
                <a:spcPct val="108000"/>
              </a:lnSpc>
              <a:spcAft>
                <a:spcPts val="900"/>
              </a:spcAft>
              <a:defRPr sz="1700">
                <a:solidFill>
                  <a:srgbClr val="F5F7FA"/>
                </a:solidFill>
                <a:latin typeface="Aptos"/>
              </a:defRPr>
            </a:pPr>
            <a:r>
              <a:t>• Aids agents in finding approved enterprise knowledge efficiently.</a:t>
            </a:r>
          </a:p>
          <a:p>
            <a:pPr algn="l">
              <a:lnSpc>
                <a:spcPct val="108000"/>
              </a:lnSpc>
              <a:spcAft>
                <a:spcPts val="900"/>
              </a:spcAft>
              <a:defRPr sz="1700">
                <a:solidFill>
                  <a:srgbClr val="F5F7FA"/>
                </a:solidFill>
                <a:latin typeface="Aptos"/>
              </a:defRPr>
            </a:pPr>
            <a:r>
              <a:t>• Ensures human agents retain responsibility for final decisions.</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Enterprise AI-Assisted Customer Support Policy: Purpose (2/2)</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1300"/>
              </a:spcAft>
              <a:defRPr sz="2100">
                <a:solidFill>
                  <a:srgbClr val="F5F7FA"/>
                </a:solidFill>
                <a:latin typeface="Aptos"/>
              </a:defRPr>
            </a:pPr>
            <a:r>
              <a:t>• Grounded in approved enterprise knowledge for accuracy.</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Enterprise AI-Assisted Customer Support Policy: Critical Incident Response Targets</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Critical incidents involve major service disruption or significant customer impact.</a:t>
            </a:r>
          </a:p>
          <a:p>
            <a:pPr algn="l">
              <a:lnSpc>
                <a:spcPct val="108000"/>
              </a:lnSpc>
              <a:spcAft>
                <a:spcPts val="900"/>
              </a:spcAft>
              <a:defRPr sz="1700">
                <a:solidFill>
                  <a:srgbClr val="F5F7FA"/>
                </a:solidFill>
                <a:latin typeface="Aptos"/>
              </a:defRPr>
            </a:pPr>
            <a:r>
              <a:t>• Target initial response time: 15 minutes.</a:t>
            </a:r>
          </a:p>
          <a:p>
            <a:pPr algn="l">
              <a:lnSpc>
                <a:spcPct val="108000"/>
              </a:lnSpc>
              <a:spcAft>
                <a:spcPts val="900"/>
              </a:spcAft>
              <a:defRPr sz="1700">
                <a:solidFill>
                  <a:srgbClr val="F5F7FA"/>
                </a:solidFill>
                <a:latin typeface="Aptos"/>
              </a:defRPr>
            </a:pPr>
            <a:r>
              <a:t>• Target for establishing an incident owner: 20 minutes.</a:t>
            </a:r>
          </a:p>
          <a:p>
            <a:pPr algn="l">
              <a:lnSpc>
                <a:spcPct val="108000"/>
              </a:lnSpc>
              <a:spcAft>
                <a:spcPts val="900"/>
              </a:spcAft>
              <a:defRPr sz="1700">
                <a:solidFill>
                  <a:srgbClr val="F5F7FA"/>
                </a:solidFill>
                <a:latin typeface="Aptos"/>
              </a:defRPr>
            </a:pPr>
            <a:r>
              <a:t>• Initial customer-facing update within 30 minutes of incident confirmation.</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Enterprise AI-Assisted Customer Support Policy: AI-Assisted Support Guidelines</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AI-generated responses must be grounded in approved enterprise knowledge.</a:t>
            </a:r>
          </a:p>
          <a:p>
            <a:pPr algn="l">
              <a:lnSpc>
                <a:spcPct val="108000"/>
              </a:lnSpc>
              <a:spcAft>
                <a:spcPts val="900"/>
              </a:spcAft>
              <a:defRPr sz="1700">
                <a:solidFill>
                  <a:srgbClr val="F5F7FA"/>
                </a:solidFill>
                <a:latin typeface="Aptos"/>
              </a:defRPr>
            </a:pPr>
            <a:r>
              <a:t>• Agents are required to verify account-specific details.</a:t>
            </a:r>
          </a:p>
          <a:p>
            <a:pPr algn="l">
              <a:lnSpc>
                <a:spcPct val="108000"/>
              </a:lnSpc>
              <a:spcAft>
                <a:spcPts val="900"/>
              </a:spcAft>
              <a:defRPr sz="1700">
                <a:solidFill>
                  <a:srgbClr val="F5F7FA"/>
                </a:solidFill>
                <a:latin typeface="Aptos"/>
              </a:defRPr>
            </a:pPr>
            <a:r>
              <a:t>• Ensuring accuracy and relevance of AI-provided information.</a:t>
            </a:r>
          </a:p>
          <a:p>
            <a:pPr algn="l">
              <a:lnSpc>
                <a:spcPct val="108000"/>
              </a:lnSpc>
              <a:spcAft>
                <a:spcPts val="900"/>
              </a:spcAft>
              <a:defRPr sz="1700">
                <a:solidFill>
                  <a:srgbClr val="F5F7FA"/>
                </a:solidFill>
                <a:latin typeface="Aptos"/>
              </a:defRPr>
            </a:pPr>
            <a:r>
              <a:t>• Maintaining human oversight for sensitive or complex customer interactions.</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Key Trend: Personalization and Hyper-automation</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Generative AI enables highly personalized content and experiences at scale.</a:t>
            </a:r>
          </a:p>
          <a:p>
            <a:pPr algn="l">
              <a:lnSpc>
                <a:spcPct val="108000"/>
              </a:lnSpc>
              <a:spcAft>
                <a:spcPts val="900"/>
              </a:spcAft>
              <a:defRPr sz="1700">
                <a:solidFill>
                  <a:srgbClr val="F5F7FA"/>
                </a:solidFill>
                <a:latin typeface="Aptos"/>
              </a:defRPr>
            </a:pPr>
            <a:r>
              <a:t>• Automating complex workflows and decision-making processes.</a:t>
            </a:r>
          </a:p>
          <a:p>
            <a:pPr algn="l">
              <a:lnSpc>
                <a:spcPct val="108000"/>
              </a:lnSpc>
              <a:spcAft>
                <a:spcPts val="900"/>
              </a:spcAft>
              <a:defRPr sz="1700">
                <a:solidFill>
                  <a:srgbClr val="F5F7FA"/>
                </a:solidFill>
                <a:latin typeface="Aptos"/>
              </a:defRPr>
            </a:pPr>
            <a:r>
              <a:t>• Creating adaptive user interfaces and tailored product recommendations.</a:t>
            </a:r>
          </a:p>
          <a:p>
            <a:pPr algn="l">
              <a:lnSpc>
                <a:spcPct val="108000"/>
              </a:lnSpc>
              <a:spcAft>
                <a:spcPts val="900"/>
              </a:spcAft>
              <a:defRPr sz="1700">
                <a:solidFill>
                  <a:srgbClr val="F5F7FA"/>
                </a:solidFill>
                <a:latin typeface="Aptos"/>
              </a:defRPr>
            </a:pPr>
            <a:r>
              <a:t>• Driving efficiency by reducing manual intervention in repetitive tasks.</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Key Trend: Generative AI in Content Creation &amp; Software Development</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Automating content generation for marketing, documentation, and reports.</a:t>
            </a:r>
          </a:p>
          <a:p>
            <a:pPr algn="l">
              <a:lnSpc>
                <a:spcPct val="108000"/>
              </a:lnSpc>
              <a:spcAft>
                <a:spcPts val="900"/>
              </a:spcAft>
              <a:defRPr sz="1700">
                <a:solidFill>
                  <a:srgbClr val="F5F7FA"/>
                </a:solidFill>
                <a:latin typeface="Aptos"/>
              </a:defRPr>
            </a:pPr>
            <a:r>
              <a:t>• Assisting developers with code generation, debugging, and testing.</a:t>
            </a:r>
          </a:p>
          <a:p>
            <a:pPr algn="l">
              <a:lnSpc>
                <a:spcPct val="108000"/>
              </a:lnSpc>
              <a:spcAft>
                <a:spcPts val="900"/>
              </a:spcAft>
              <a:defRPr sz="1700">
                <a:solidFill>
                  <a:srgbClr val="F5F7FA"/>
                </a:solidFill>
                <a:latin typeface="Aptos"/>
              </a:defRPr>
            </a:pPr>
            <a:r>
              <a:t>• Accelerating design processes for user interfaces and creative assets.</a:t>
            </a:r>
          </a:p>
          <a:p>
            <a:pPr algn="l">
              <a:lnSpc>
                <a:spcPct val="108000"/>
              </a:lnSpc>
              <a:spcAft>
                <a:spcPts val="900"/>
              </a:spcAft>
              <a:defRPr sz="1700">
                <a:solidFill>
                  <a:srgbClr val="F5F7FA"/>
                </a:solidFill>
                <a:latin typeface="Aptos"/>
              </a:defRPr>
            </a:pPr>
            <a:r>
              <a:t>• Transforming how digital assets are created and managed across the enterprise.</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Future Outlook and Strategic Implications</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Generative AI will continue to evolve, offering new capabilities and efficiencies.</a:t>
            </a:r>
          </a:p>
          <a:p>
            <a:pPr algn="l">
              <a:lnSpc>
                <a:spcPct val="108000"/>
              </a:lnSpc>
              <a:spcAft>
                <a:spcPts val="900"/>
              </a:spcAft>
              <a:defRPr sz="1700">
                <a:solidFill>
                  <a:srgbClr val="F5F7FA"/>
                </a:solidFill>
                <a:latin typeface="Aptos"/>
              </a:defRPr>
            </a:pPr>
            <a:r>
              <a:t>• Strategic adoption requires continuous learning and adaptation.</a:t>
            </a:r>
          </a:p>
          <a:p>
            <a:pPr algn="l">
              <a:lnSpc>
                <a:spcPct val="108000"/>
              </a:lnSpc>
              <a:spcAft>
                <a:spcPts val="900"/>
              </a:spcAft>
              <a:defRPr sz="1700">
                <a:solidFill>
                  <a:srgbClr val="F5F7FA"/>
                </a:solidFill>
                <a:latin typeface="Aptos"/>
              </a:defRPr>
            </a:pPr>
            <a:r>
              <a:t>• Prioritizing secure and ethical integration across all business units.</a:t>
            </a:r>
          </a:p>
          <a:p>
            <a:pPr algn="l">
              <a:lnSpc>
                <a:spcPct val="108000"/>
              </a:lnSpc>
              <a:spcAft>
                <a:spcPts val="900"/>
              </a:spcAft>
              <a:defRPr sz="1700">
                <a:solidFill>
                  <a:srgbClr val="F5F7FA"/>
                </a:solidFill>
                <a:latin typeface="Aptos"/>
              </a:defRPr>
            </a:pPr>
            <a:r>
              <a:t>• Positioning Acme Corporation as a leader in AI-driven innovation.</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Sources &amp; References</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900"/>
              </a:spcAft>
              <a:defRPr sz="1700">
                <a:solidFill>
                  <a:srgbClr val="F5F7FA"/>
                </a:solidFill>
                <a:latin typeface="Aptos"/>
              </a:defRPr>
            </a:pPr>
            <a:r>
              <a:t>• 3f7717aec04c41b9b02a960dac77407a.pdf</a:t>
            </a:r>
          </a:p>
          <a:p>
            <a:pPr algn="l">
              <a:lnSpc>
                <a:spcPct val="108000"/>
              </a:lnSpc>
              <a:spcAft>
                <a:spcPts val="900"/>
              </a:spcAft>
              <a:defRPr sz="1700">
                <a:solidFill>
                  <a:srgbClr val="F5F7FA"/>
                </a:solidFill>
                <a:latin typeface="Aptos"/>
              </a:defRPr>
            </a:pPr>
            <a:r>
              <a:t>• 3c244b5dcd444191907259be377fa702.pdf</a:t>
            </a:r>
          </a:p>
          <a:p>
            <a:pPr algn="l">
              <a:lnSpc>
                <a:spcPct val="108000"/>
              </a:lnSpc>
              <a:spcAft>
                <a:spcPts val="900"/>
              </a:spcAft>
              <a:defRPr sz="1700">
                <a:solidFill>
                  <a:srgbClr val="F5F7FA"/>
                </a:solidFill>
                <a:latin typeface="Aptos"/>
              </a:defRPr>
            </a:pPr>
            <a:r>
              <a:t>• 55e629e3330b4c4fb40b2cd4e22dfc32.pdf</a:t>
            </a:r>
          </a:p>
          <a:p>
            <a:pPr algn="l">
              <a:lnSpc>
                <a:spcPct val="108000"/>
              </a:lnSpc>
              <a:spcAft>
                <a:spcPts val="900"/>
              </a:spcAft>
              <a:defRPr sz="1700">
                <a:solidFill>
                  <a:srgbClr val="F5F7FA"/>
                </a:solidFill>
                <a:latin typeface="Aptos"/>
              </a:defRPr>
            </a:pPr>
            <a:r>
              <a:t>• 50ed733d5ea54b1eb5b5e64cf60dc5df.pdf</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E"/>
        </a:solidFill>
        <a:effectLst/>
      </p:bgPr>
    </p:bg>
    <p:spTree>
      <p:nvGrpSpPr>
        <p:cNvPr id="1" name=""/>
        <p:cNvGrpSpPr/>
        <p:nvPr/>
      </p:nvGrpSpPr>
      <p:grpSpPr/>
      <p:sp>
        <p:nvSpPr>
          <p:cNvPr id="2" name="TextBox 1"/>
          <p:cNvSpPr txBox="1"/>
          <p:nvPr/>
        </p:nvSpPr>
        <p:spPr>
          <a:xfrm>
            <a:off x="658368" y="384048"/>
            <a:ext cx="10874959" cy="566928"/>
          </a:xfrm>
          <a:prstGeom prst="rect">
            <a:avLst/>
          </a:prstGeom>
          <a:noFill/>
        </p:spPr>
        <p:txBody>
          <a:bodyPr wrap="square" lIns="0" rIns="0" tIns="0" bIns="0" anchor="ctr">
            <a:spAutoFit/>
          </a:bodyPr>
          <a:lstStyle/>
          <a:p>
            <a:pPr algn="l">
              <a:defRPr sz="2700" b="1">
                <a:solidFill>
                  <a:srgbClr val="F5F7FA"/>
                </a:solidFill>
                <a:latin typeface="Aptos"/>
              </a:defRPr>
            </a:pPr>
            <a:r>
              <a:t>Sources &amp; References</a:t>
            </a:r>
          </a:p>
        </p:txBody>
      </p:sp>
      <p:sp>
        <p:nvSpPr>
          <p:cNvPr id="3" name="Rectangle 2"/>
          <p:cNvSpPr/>
          <p:nvPr/>
        </p:nvSpPr>
        <p:spPr>
          <a:xfrm>
            <a:off x="658368" y="1005840"/>
            <a:ext cx="658368" cy="4114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234440"/>
            <a:ext cx="10874959" cy="5074920"/>
          </a:xfrm>
          <a:prstGeom prst="roundRect">
            <a:avLst/>
          </a:prstGeom>
          <a:solidFill>
            <a:srgbClr val="1D232E"/>
          </a:solidFill>
          <a:ln w="12700">
            <a:solidFill>
              <a:srgbClr val="3E48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36192"/>
            <a:ext cx="10287000" cy="4498848"/>
          </a:xfrm>
          <a:prstGeom prst="rect">
            <a:avLst/>
          </a:prstGeom>
          <a:noFill/>
        </p:spPr>
        <p:txBody>
          <a:bodyPr wrap="square" lIns="0" rIns="0" tIns="0" bIns="0" anchor="t">
            <a:spAutoFit/>
          </a:bodyPr>
          <a:lstStyle/>
          <a:p>
            <a:pPr algn="l">
              <a:lnSpc>
                <a:spcPct val="108000"/>
              </a:lnSpc>
              <a:spcAft>
                <a:spcPts val="1300"/>
              </a:spcAft>
              <a:defRPr sz="2100">
                <a:solidFill>
                  <a:srgbClr val="F5F7FA"/>
                </a:solidFill>
                <a:latin typeface="Aptos"/>
              </a:defRPr>
            </a:pPr>
            <a:r>
              <a:t>• 9ee17db8b4204fdeb853c18c63603189.pdf</a:t>
            </a:r>
          </a:p>
          <a:p>
            <a:pPr algn="l">
              <a:lnSpc>
                <a:spcPct val="108000"/>
              </a:lnSpc>
              <a:spcAft>
                <a:spcPts val="1300"/>
              </a:spcAft>
              <a:defRPr sz="2100">
                <a:solidFill>
                  <a:srgbClr val="F5F7FA"/>
                </a:solidFill>
                <a:latin typeface="Aptos"/>
              </a:defRPr>
            </a:pPr>
            <a:r>
              <a:t>• 6322280aea8145dabd8436f565a668aa.pdf</a:t>
            </a:r>
          </a:p>
        </p:txBody>
      </p:sp>
      <p:sp>
        <p:nvSpPr>
          <p:cNvPr id="6" name="TextBox 5"/>
          <p:cNvSpPr txBox="1"/>
          <p:nvPr/>
        </p:nvSpPr>
        <p:spPr>
          <a:xfrm>
            <a:off x="10469880" y="6473952"/>
            <a:ext cx="1005840" cy="201168"/>
          </a:xfrm>
          <a:prstGeom prst="rect">
            <a:avLst/>
          </a:prstGeom>
          <a:noFill/>
        </p:spPr>
        <p:txBody>
          <a:bodyPr wrap="square" lIns="0" rIns="0" tIns="0" bIns="0" anchor="ctr">
            <a:spAutoFit/>
          </a:bodyPr>
          <a:lstStyle/>
          <a:p>
            <a:pPr algn="r">
              <a:defRPr sz="900" b="0">
                <a:solidFill>
                  <a:srgbClr val="AFB8C6"/>
                </a:solidFill>
                <a:latin typeface="Aptos"/>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